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3840480" cy="6858000"/>
          </a:xfrm>
          <a:prstGeom prst="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4" name="Picture 3" descr="UMPAS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68680"/>
            <a:ext cx="1874519" cy="18745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063240"/>
            <a:ext cx="283464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E2AE49"/>
                </a:solidFill>
                <a:latin typeface="Aptos"/>
              </a:defRPr>
            </a:pPr>
            <a:r>
              <a:t>Laravel Project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960120"/>
            <a:ext cx="6858000" cy="1325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5200" b="1">
                <a:solidFill>
                  <a:srgbClr val="242424"/>
                </a:solidFill>
                <a:latin typeface="Aptos Display"/>
              </a:defRPr>
            </a:pPr>
            <a:r>
              <a:t>UM-Pasa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148840"/>
            <a:ext cx="6583680" cy="6400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2800">
                <a:solidFill>
                  <a:srgbClr val="7E1C26"/>
                </a:solidFill>
                <a:latin typeface="Aptos Display"/>
              </a:defRPr>
            </a:pPr>
            <a:r>
              <a:t>University Marketplace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8848" y="2907792"/>
            <a:ext cx="1920240" cy="64008"/>
          </a:xfrm>
          <a:prstGeom prst="rect">
            <a:avLst/>
          </a:prstGeom>
          <a:solidFill>
            <a:srgbClr val="E2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3337560"/>
            <a:ext cx="6309360" cy="1554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2424"/>
                </a:solidFill>
                <a:latin typeface="Aptos"/>
              </a:defRPr>
            </a:pPr>
            <a:r>
              <a:t>Group No.: ____________________</a:t>
            </a:r>
          </a:p>
          <a:p>
            <a:pPr>
              <a:spcAft>
                <a:spcPts val="800"/>
              </a:spcAft>
              <a:defRPr sz="1600">
                <a:solidFill>
                  <a:srgbClr val="242424"/>
                </a:solidFill>
                <a:latin typeface="Aptos"/>
              </a:defRPr>
            </a:pPr>
            <a:r>
              <a:t>Team Name: ____________________</a:t>
            </a:r>
          </a:p>
          <a:p>
            <a:pPr>
              <a:spcAft>
                <a:spcPts val="800"/>
              </a:spcAft>
              <a:defRPr sz="1600">
                <a:solidFill>
                  <a:srgbClr val="242424"/>
                </a:solidFill>
                <a:latin typeface="Aptos"/>
              </a:defRPr>
            </a:pPr>
            <a:r>
              <a:t>Team Members: ____________________</a:t>
            </a:r>
          </a:p>
          <a:p>
            <a:pPr>
              <a:spcAft>
                <a:spcPts val="800"/>
              </a:spcAft>
              <a:defRPr sz="1600">
                <a:solidFill>
                  <a:srgbClr val="242424"/>
                </a:solidFill>
                <a:latin typeface="Aptos"/>
              </a:defRPr>
            </a:pPr>
            <a:r>
              <a:t>Course/Subject: 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5394960"/>
            <a:ext cx="630936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1300" i="1">
                <a:solidFill>
                  <a:srgbClr val="5C5E62"/>
                </a:solidFill>
                <a:latin typeface="Aptos"/>
              </a:defRPr>
            </a:pPr>
            <a:r>
              <a:t>A structured marketplace for buying, renting, requesting, messaging, and completing academic item transactions.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391656"/>
            <a:ext cx="1129284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6446520"/>
            <a:ext cx="59436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850">
                <a:solidFill>
                  <a:srgbClr val="5C5E62"/>
                </a:solidFill>
                <a:latin typeface="Aptos"/>
              </a:defRPr>
            </a:pPr>
            <a:r>
              <a:t>UM-Pasa: University Marketplace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>
              <a:defRPr sz="850">
                <a:solidFill>
                  <a:srgbClr val="5C5E62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3" name="Picture 2" descr="UMPAS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201168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20040"/>
            <a:ext cx="982980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2900" b="1">
                <a:solidFill>
                  <a:srgbClr val="242424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961120" cy="301752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1300" b="1">
                <a:solidFill>
                  <a:srgbClr val="24807A"/>
                </a:solidFill>
                <a:latin typeface="Aptos"/>
              </a:defRPr>
            </a:pPr>
            <a:r>
              <a:t>What UM-Pasa Solves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07592"/>
            <a:ext cx="1234440" cy="54864"/>
          </a:xfrm>
          <a:prstGeom prst="rect">
            <a:avLst/>
          </a:prstGeom>
          <a:solidFill>
            <a:srgbClr val="24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700784"/>
            <a:ext cx="10607040" cy="2468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Students rely on scattered group chats and social media posts for academic items.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Books, calculators, uniforms, gadgets, and lab tools are often needed for only one course or semester.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UM-Pasa provides one organized marketplace for listings, requests, moderation, messaging, transactions, receipts, notifications, and ratings.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4572000"/>
            <a:ext cx="2514600" cy="86868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" y="4572000"/>
            <a:ext cx="73152" cy="868680"/>
          </a:xfrm>
          <a:prstGeom prst="rect">
            <a:avLst/>
          </a:prstGeom>
          <a:solidFill>
            <a:srgbClr val="24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4709160"/>
            <a:ext cx="2194560" cy="6400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24807A"/>
                </a:solidFill>
                <a:latin typeface="Aptos"/>
              </a:defRPr>
            </a:pPr>
            <a:r>
              <a:t>Backend</a:t>
            </a:r>
          </a:p>
          <a:p>
            <a:pPr>
              <a:lnSpc>
                <a:spcPct val="100000"/>
              </a:lnSpc>
              <a:defRPr sz="1100">
                <a:solidFill>
                  <a:srgbClr val="242424"/>
                </a:solidFill>
                <a:latin typeface="Aptos"/>
              </a:defRPr>
            </a:pPr>
            <a:r>
              <a:t>Laravel 13, PHP 8.4+, Eloquent ORM, authentication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4572000"/>
            <a:ext cx="2514600" cy="86868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4572000"/>
            <a:ext cx="73152" cy="868680"/>
          </a:xfrm>
          <a:prstGeom prst="rect">
            <a:avLst/>
          </a:prstGeom>
          <a:solidFill>
            <a:srgbClr val="E2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4709160"/>
            <a:ext cx="2194560" cy="6400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E2AE49"/>
                </a:solidFill>
                <a:latin typeface="Aptos"/>
              </a:defRPr>
            </a:pPr>
            <a:r>
              <a:t>Frontend</a:t>
            </a:r>
          </a:p>
          <a:p>
            <a:pPr>
              <a:lnSpc>
                <a:spcPct val="100000"/>
              </a:lnSpc>
              <a:defRPr sz="1100">
                <a:solidFill>
                  <a:srgbClr val="242424"/>
                </a:solidFill>
                <a:latin typeface="Aptos"/>
              </a:defRPr>
            </a:pPr>
            <a:r>
              <a:t>Blade, Tailwind CSS, Alpine.js, Vite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4572000"/>
            <a:ext cx="2514600" cy="86868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4496" y="4572000"/>
            <a:ext cx="73152" cy="868680"/>
          </a:xfrm>
          <a:prstGeom prst="rect">
            <a:avLst/>
          </a:prstGeom>
          <a:solidFill>
            <a:srgbClr val="376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4709160"/>
            <a:ext cx="2194560" cy="6400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376AAD"/>
                </a:solidFill>
                <a:latin typeface="Aptos"/>
              </a:defRPr>
            </a:pPr>
            <a:r>
              <a:t>Database</a:t>
            </a:r>
          </a:p>
          <a:p>
            <a:pPr>
              <a:lnSpc>
                <a:spcPct val="100000"/>
              </a:lnSpc>
              <a:defRPr sz="1100">
                <a:solidFill>
                  <a:srgbClr val="242424"/>
                </a:solidFill>
                <a:latin typeface="Aptos"/>
              </a:defRPr>
            </a:pPr>
            <a:r>
              <a:t>SQLite/MySQL, migrations, seeders, indexes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88552" y="4572000"/>
            <a:ext cx="2514600" cy="86868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88552" y="4572000"/>
            <a:ext cx="73152" cy="868680"/>
          </a:xfrm>
          <a:prstGeom prst="rect">
            <a:avLst/>
          </a:prstGeom>
          <a:solidFill>
            <a:srgbClr val="3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2" y="4709160"/>
            <a:ext cx="2194560" cy="6400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378A59"/>
                </a:solidFill>
                <a:latin typeface="Aptos"/>
              </a:defRPr>
            </a:pPr>
            <a:r>
              <a:t>Testing</a:t>
            </a:r>
          </a:p>
          <a:p>
            <a:pPr>
              <a:lnSpc>
                <a:spcPct val="100000"/>
              </a:lnSpc>
              <a:defRPr sz="1100">
                <a:solidFill>
                  <a:srgbClr val="242424"/>
                </a:solidFill>
                <a:latin typeface="Aptos"/>
              </a:defRPr>
            </a:pPr>
            <a:r>
              <a:t>PHPUnit feature tests and demo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391656"/>
            <a:ext cx="1129284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6446520"/>
            <a:ext cx="59436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850">
                <a:solidFill>
                  <a:srgbClr val="5C5E62"/>
                </a:solidFill>
                <a:latin typeface="Aptos"/>
              </a:defRPr>
            </a:pPr>
            <a:r>
              <a:t>UM-Pasa: University Marketplace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>
              <a:defRPr sz="850">
                <a:solidFill>
                  <a:srgbClr val="5C5E62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3" name="Picture 2" descr="UMPAS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201168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20040"/>
            <a:ext cx="982980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2900" b="1">
                <a:solidFill>
                  <a:srgbClr val="242424"/>
                </a:solidFill>
                <a:latin typeface="Aptos Display"/>
              </a:defRPr>
            </a:pPr>
            <a:r>
              <a:t>Target Users and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961120" cy="301752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1300" b="1">
                <a:solidFill>
                  <a:srgbClr val="376AAD"/>
                </a:solidFill>
                <a:latin typeface="Aptos"/>
              </a:defRPr>
            </a:pPr>
            <a:r>
              <a:t>Role-Based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07592"/>
            <a:ext cx="1234440" cy="54864"/>
          </a:xfrm>
          <a:prstGeom prst="rect">
            <a:avLst/>
          </a:prstGeom>
          <a:solidFill>
            <a:srgbClr val="376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874519"/>
            <a:ext cx="2514600" cy="205740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874519"/>
            <a:ext cx="73152" cy="2057400"/>
          </a:xfrm>
          <a:prstGeom prst="rect">
            <a:avLst/>
          </a:prstGeom>
          <a:solidFill>
            <a:srgbClr val="24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011679"/>
            <a:ext cx="2194560" cy="18288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24807A"/>
                </a:solidFill>
                <a:latin typeface="Aptos"/>
              </a:defRPr>
            </a:pPr>
            <a:r>
              <a:t>Guest</a:t>
            </a:r>
          </a:p>
          <a:p>
            <a:pPr>
              <a:lnSpc>
                <a:spcPct val="100000"/>
              </a:lnSpc>
              <a:defRPr sz="1100">
                <a:solidFill>
                  <a:srgbClr val="242424"/>
                </a:solidFill>
                <a:latin typeface="Aptos"/>
              </a:defRPr>
            </a:pPr>
            <a:r>
              <a:t>Browses public pages, marketplace listings, and item details.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1874519"/>
            <a:ext cx="2514600" cy="205740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47872" y="1874519"/>
            <a:ext cx="73152" cy="2057400"/>
          </a:xfrm>
          <a:prstGeom prst="rect">
            <a:avLst/>
          </a:prstGeom>
          <a:solidFill>
            <a:srgbClr val="376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2011679"/>
            <a:ext cx="2194560" cy="18288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376AAD"/>
                </a:solidFill>
                <a:latin typeface="Aptos"/>
              </a:defRPr>
            </a:pPr>
            <a:r>
              <a:t>Student</a:t>
            </a:r>
          </a:p>
          <a:p>
            <a:pPr>
              <a:lnSpc>
                <a:spcPct val="100000"/>
              </a:lnSpc>
              <a:defRPr sz="1100">
                <a:solidFill>
                  <a:srgbClr val="242424"/>
                </a:solidFill>
                <a:latin typeface="Aptos"/>
              </a:defRPr>
            </a:pPr>
            <a:r>
              <a:t>Registers, posts items, requests items, uploads payment proof, messages, receives notifications, and rates transactions.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74519"/>
            <a:ext cx="2514600" cy="205740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874519"/>
            <a:ext cx="73152" cy="2057400"/>
          </a:xfrm>
          <a:prstGeom prst="rect">
            <a:avLst/>
          </a:prstGeom>
          <a:solidFill>
            <a:srgbClr val="3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79"/>
            <a:ext cx="2194560" cy="18288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378A59"/>
                </a:solidFill>
                <a:latin typeface="Aptos"/>
              </a:defRPr>
            </a:pPr>
            <a:r>
              <a:t>Seller</a:t>
            </a:r>
          </a:p>
          <a:p>
            <a:pPr>
              <a:lnSpc>
                <a:spcPct val="100000"/>
              </a:lnSpc>
              <a:defRPr sz="1100">
                <a:solidFill>
                  <a:srgbClr val="242424"/>
                </a:solidFill>
                <a:latin typeface="Aptos"/>
              </a:defRPr>
            </a:pPr>
            <a:r>
              <a:t>Approves, rejects, and completes buyer or renter requests with meetup details.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0848" y="1874519"/>
            <a:ext cx="2514600" cy="205740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0848" y="1874519"/>
            <a:ext cx="73152" cy="2057400"/>
          </a:xfrm>
          <a:prstGeom prst="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2011679"/>
            <a:ext cx="2194560" cy="18288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7E1C26"/>
                </a:solidFill>
                <a:latin typeface="Aptos"/>
              </a:defRPr>
            </a:pPr>
            <a:r>
              <a:t>Admin</a:t>
            </a:r>
          </a:p>
          <a:p>
            <a:pPr>
              <a:lnSpc>
                <a:spcPct val="100000"/>
              </a:lnSpc>
              <a:defRPr sz="1100">
                <a:solidFill>
                  <a:srgbClr val="242424"/>
                </a:solidFill>
                <a:latin typeface="Aptos"/>
              </a:defRPr>
            </a:pPr>
            <a:r>
              <a:t>Moderates listings, manages users, monitors transactions, and prepares reports.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01952" y="4800600"/>
            <a:ext cx="8321040" cy="384048"/>
          </a:xfrm>
          <a:prstGeom prst="round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Access is separated by authentication, middleware, policies, and role checks.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391656"/>
            <a:ext cx="1129284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6446520"/>
            <a:ext cx="59436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850">
                <a:solidFill>
                  <a:srgbClr val="5C5E62"/>
                </a:solidFill>
                <a:latin typeface="Aptos"/>
              </a:defRPr>
            </a:pPr>
            <a:r>
              <a:t>UM-Pasa: University Marketplace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>
              <a:defRPr sz="850">
                <a:solidFill>
                  <a:srgbClr val="5C5E62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3" name="Picture 2" descr="UMPAS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201168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20040"/>
            <a:ext cx="982980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2900" b="1">
                <a:solidFill>
                  <a:srgbClr val="242424"/>
                </a:solidFill>
                <a:latin typeface="Aptos Display"/>
              </a:defRPr>
            </a:pPr>
            <a:r>
              <a:t>Core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961120" cy="301752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1300" b="1">
                <a:solidFill>
                  <a:srgbClr val="378A59"/>
                </a:solidFill>
                <a:latin typeface="Aptos"/>
              </a:defRPr>
            </a:pPr>
            <a:r>
              <a:t>Marketplace Transaction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07592"/>
            <a:ext cx="1234440" cy="54864"/>
          </a:xfrm>
          <a:prstGeom prst="rect">
            <a:avLst/>
          </a:prstGeom>
          <a:solidFill>
            <a:srgbClr val="3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029968"/>
            <a:ext cx="1261872" cy="822960"/>
          </a:xfrm>
          <a:prstGeom prst="roundRect">
            <a:avLst/>
          </a:prstGeom>
          <a:solidFill>
            <a:srgbClr val="24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  <a:br/>
            <a:r>
              <a:t>Post item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39" y="2441448"/>
            <a:ext cx="164592" cy="0"/>
          </a:xfrm>
          <a:prstGeom prst="line">
            <a:avLst/>
          </a:prstGeom>
          <a:ln w="1905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84831" y="2029968"/>
            <a:ext cx="1261872" cy="822960"/>
          </a:xfrm>
          <a:prstGeom prst="round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  <a:br/>
            <a:r>
              <a:t>Admin review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46703" y="2441448"/>
            <a:ext cx="164593" cy="0"/>
          </a:xfrm>
          <a:prstGeom prst="line">
            <a:avLst/>
          </a:prstGeom>
          <a:ln w="1905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11296" y="2029968"/>
            <a:ext cx="1261872" cy="822960"/>
          </a:xfrm>
          <a:prstGeom prst="roundRect">
            <a:avLst/>
          </a:prstGeom>
          <a:solidFill>
            <a:srgbClr val="376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  <a:br/>
            <a:r>
              <a:t>Buyer request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73168" y="2441448"/>
            <a:ext cx="164591" cy="0"/>
          </a:xfrm>
          <a:prstGeom prst="line">
            <a:avLst/>
          </a:prstGeom>
          <a:ln w="1905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37759" y="2029968"/>
            <a:ext cx="1261872" cy="822960"/>
          </a:xfrm>
          <a:prstGeom prst="roundRect">
            <a:avLst/>
          </a:prstGeom>
          <a:solidFill>
            <a:srgbClr val="E2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  <a:br/>
            <a:r>
              <a:t>Payment proof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99631" y="2441448"/>
            <a:ext cx="164592" cy="0"/>
          </a:xfrm>
          <a:prstGeom prst="line">
            <a:avLst/>
          </a:prstGeom>
          <a:ln w="1905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64223" y="2029968"/>
            <a:ext cx="1261872" cy="822960"/>
          </a:xfrm>
          <a:prstGeom prst="roundRect">
            <a:avLst/>
          </a:prstGeom>
          <a:solidFill>
            <a:srgbClr val="3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  <a:br/>
            <a:r>
              <a:t>Seller action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26096" y="2441448"/>
            <a:ext cx="164592" cy="0"/>
          </a:xfrm>
          <a:prstGeom prst="line">
            <a:avLst/>
          </a:prstGeom>
          <a:ln w="1905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90688" y="2029968"/>
            <a:ext cx="1261872" cy="822960"/>
          </a:xfrm>
          <a:prstGeom prst="roundRect">
            <a:avLst/>
          </a:prstGeom>
          <a:solidFill>
            <a:srgbClr val="24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  <a:br/>
            <a:r>
              <a:t>Message meetup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52559" y="2441448"/>
            <a:ext cx="164592" cy="0"/>
          </a:xfrm>
          <a:prstGeom prst="line">
            <a:avLst/>
          </a:prstGeom>
          <a:ln w="1905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17152" y="2029968"/>
            <a:ext cx="1261872" cy="822960"/>
          </a:xfrm>
          <a:prstGeom prst="roundRect">
            <a:avLst/>
          </a:prstGeom>
          <a:solidFill>
            <a:srgbClr val="B44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  <a:br/>
            <a:r>
              <a:t>Complete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479024" y="2441448"/>
            <a:ext cx="164592" cy="0"/>
          </a:xfrm>
          <a:prstGeom prst="line">
            <a:avLst/>
          </a:prstGeom>
          <a:ln w="1905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643615" y="2029968"/>
            <a:ext cx="1261872" cy="822960"/>
          </a:xfrm>
          <a:prstGeom prst="roundRect">
            <a:avLst/>
          </a:prstGeom>
          <a:solidFill>
            <a:srgbClr val="376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  <a:br/>
            <a:r>
              <a:t>Receipt + rating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3730752"/>
            <a:ext cx="10607040" cy="1737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The workflow proves that the system is more than basic CRUD.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Each step produces useful records: listings, requests, transactions, messages, notifications, receipts, and ratings.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The same flow supports both sale and rental listings, including rental duration and due-date tracking.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391656"/>
            <a:ext cx="1129284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6446520"/>
            <a:ext cx="59436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850">
                <a:solidFill>
                  <a:srgbClr val="5C5E62"/>
                </a:solidFill>
                <a:latin typeface="Aptos"/>
              </a:defRPr>
            </a:pPr>
            <a:r>
              <a:t>UM-Pasa: University Marketplace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>
              <a:defRPr sz="850">
                <a:solidFill>
                  <a:srgbClr val="5C5E62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3" name="Picture 2" descr="UMPAS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201168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20040"/>
            <a:ext cx="982980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2900" b="1">
                <a:solidFill>
                  <a:srgbClr val="242424"/>
                </a:solidFill>
                <a:latin typeface="Aptos Display"/>
              </a:defRPr>
            </a:pPr>
            <a:r>
              <a:t>Laravel MVC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961120" cy="301752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1300" b="1">
                <a:solidFill>
                  <a:srgbClr val="7E1C26"/>
                </a:solidFill>
                <a:latin typeface="Aptos"/>
              </a:defRPr>
            </a:pPr>
            <a:r>
              <a:t>Routes, Controllers, Models,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07592"/>
            <a:ext cx="1234440" cy="54864"/>
          </a:xfrm>
          <a:prstGeom prst="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874519"/>
            <a:ext cx="2514600" cy="251460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874519"/>
            <a:ext cx="73152" cy="2514600"/>
          </a:xfrm>
          <a:prstGeom prst="rect">
            <a:avLst/>
          </a:prstGeom>
          <a:solidFill>
            <a:srgbClr val="24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011679"/>
            <a:ext cx="2194560" cy="22860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24807A"/>
                </a:solidFill>
                <a:latin typeface="Aptos"/>
              </a:defRPr>
            </a:pPr>
            <a:r>
              <a:t>Routes</a:t>
            </a:r>
          </a:p>
          <a:p>
            <a:pPr>
              <a:lnSpc>
                <a:spcPct val="100000"/>
              </a:lnSpc>
              <a:defRPr sz="1100">
                <a:solidFill>
                  <a:srgbClr val="242424"/>
                </a:solidFill>
                <a:latin typeface="Aptos"/>
              </a:defRPr>
            </a:pPr>
            <a:r>
              <a:t>routes/web.php</a:t>
            </a:r>
            <a:br/>
            <a:r>
              <a:t>Public, auth, transaction, message, report, admin routes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1874519"/>
            <a:ext cx="2514600" cy="251460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47872" y="1874519"/>
            <a:ext cx="73152" cy="2514600"/>
          </a:xfrm>
          <a:prstGeom prst="rect">
            <a:avLst/>
          </a:prstGeom>
          <a:solidFill>
            <a:srgbClr val="376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2011679"/>
            <a:ext cx="2194560" cy="22860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376AAD"/>
                </a:solidFill>
                <a:latin typeface="Aptos"/>
              </a:defRPr>
            </a:pPr>
            <a:r>
              <a:t>Controllers</a:t>
            </a:r>
          </a:p>
          <a:p>
            <a:pPr>
              <a:lnSpc>
                <a:spcPct val="100000"/>
              </a:lnSpc>
              <a:defRPr sz="1100">
                <a:solidFill>
                  <a:srgbClr val="242424"/>
                </a:solidFill>
                <a:latin typeface="Aptos"/>
              </a:defRPr>
            </a:pPr>
            <a:r>
              <a:t>ItemController</a:t>
            </a:r>
            <a:br/>
            <a:r>
              <a:t>TransactionController</a:t>
            </a:r>
            <a:br/>
            <a:r>
              <a:t>MessageController</a:t>
            </a:r>
            <a:br/>
            <a:r>
              <a:t>AdminController</a:t>
            </a:r>
            <a:br/>
            <a:r>
              <a:t>ReportController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74519"/>
            <a:ext cx="2514600" cy="251460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874519"/>
            <a:ext cx="73152" cy="2514600"/>
          </a:xfrm>
          <a:prstGeom prst="rect">
            <a:avLst/>
          </a:prstGeom>
          <a:solidFill>
            <a:srgbClr val="3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79"/>
            <a:ext cx="2194560" cy="22860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378A59"/>
                </a:solidFill>
                <a:latin typeface="Aptos"/>
              </a:defRPr>
            </a:pPr>
            <a:r>
              <a:t>Models</a:t>
            </a:r>
          </a:p>
          <a:p>
            <a:pPr>
              <a:lnSpc>
                <a:spcPct val="100000"/>
              </a:lnSpc>
              <a:defRPr sz="1100">
                <a:solidFill>
                  <a:srgbClr val="242424"/>
                </a:solidFill>
                <a:latin typeface="Aptos"/>
              </a:defRPr>
            </a:pPr>
            <a:r>
              <a:t>User, Item, Transaction</a:t>
            </a:r>
            <a:br/>
            <a:r>
              <a:t>Conversation, Message</a:t>
            </a:r>
            <a:br/>
            <a:r>
              <a:t>Notification, Rating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0848" y="1874519"/>
            <a:ext cx="2514600" cy="251460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0848" y="1874519"/>
            <a:ext cx="73152" cy="2514600"/>
          </a:xfrm>
          <a:prstGeom prst="rect">
            <a:avLst/>
          </a:prstGeom>
          <a:solidFill>
            <a:srgbClr val="E2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2011679"/>
            <a:ext cx="2194560" cy="22860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E2AE49"/>
                </a:solidFill>
                <a:latin typeface="Aptos"/>
              </a:defRPr>
            </a:pPr>
            <a:r>
              <a:t>Views</a:t>
            </a:r>
          </a:p>
          <a:p>
            <a:pPr>
              <a:lnSpc>
                <a:spcPct val="100000"/>
              </a:lnSpc>
              <a:defRPr sz="1100">
                <a:solidFill>
                  <a:srgbClr val="242424"/>
                </a:solidFill>
                <a:latin typeface="Aptos"/>
              </a:defRPr>
            </a:pPr>
            <a:r>
              <a:t>Blade templates for marketplace, dashboards, forms, receipts, reports, messages, and admin pages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983480"/>
            <a:ext cx="10149840" cy="384048"/>
          </a:xfrm>
          <a:prstGeom prst="round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MVC is followed strictly: routes direct requests, controllers coordinate actions, models manage data, and views present the interface.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391656"/>
            <a:ext cx="1129284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6446520"/>
            <a:ext cx="59436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850">
                <a:solidFill>
                  <a:srgbClr val="5C5E62"/>
                </a:solidFill>
                <a:latin typeface="Aptos"/>
              </a:defRPr>
            </a:pPr>
            <a:r>
              <a:t>UM-Pasa: University Marketplace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>
              <a:defRPr sz="850">
                <a:solidFill>
                  <a:srgbClr val="5C5E62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3" name="Picture 2" descr="UMPAS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201168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20040"/>
            <a:ext cx="982980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2900" b="1">
                <a:solidFill>
                  <a:srgbClr val="242424"/>
                </a:solidFill>
                <a:latin typeface="Aptos Display"/>
              </a:defRPr>
            </a:pPr>
            <a:r>
              <a:t>Laravel Framework Utilization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961120" cy="301752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1300" b="1">
                <a:solidFill>
                  <a:srgbClr val="7E1C26"/>
                </a:solidFill>
                <a:latin typeface="Aptos"/>
              </a:defRPr>
            </a:pPr>
            <a:r>
              <a:t>Excellent Rubric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07592"/>
            <a:ext cx="1234440" cy="54864"/>
          </a:xfrm>
          <a:prstGeom prst="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73352"/>
            <a:ext cx="10607040" cy="4297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Routes are grouped by public, authenticated, transaction, message, profile, report, and admin access.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Eloquent ORM models define relationships, casts, helper methods, constants, and fillable fields.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Blade templates and reusable components create consistent pages and controls.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Form Requests, Policies, Middleware, Route Model Binding, migrations, seeders, services, and an Artisan command are used throughout.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391656"/>
            <a:ext cx="1129284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46520"/>
            <a:ext cx="59436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850">
                <a:solidFill>
                  <a:srgbClr val="5C5E62"/>
                </a:solidFill>
                <a:latin typeface="Aptos"/>
              </a:defRPr>
            </a:pPr>
            <a:r>
              <a:t>UM-Pasa: University Marketplace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>
              <a:defRPr sz="850">
                <a:solidFill>
                  <a:srgbClr val="5C5E62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3" name="Picture 2" descr="UMPAS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201168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20040"/>
            <a:ext cx="982980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2900" b="1">
                <a:solidFill>
                  <a:srgbClr val="242424"/>
                </a:solidFill>
                <a:latin typeface="Aptos Display"/>
              </a:defRPr>
            </a:pPr>
            <a:r>
              <a:t>Functionality and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961120" cy="301752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1300" b="1">
                <a:solidFill>
                  <a:srgbClr val="378A59"/>
                </a:solidFill>
                <a:latin typeface="Aptos"/>
              </a:defRPr>
            </a:pPr>
            <a:r>
              <a:t>Complete Marketplace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07592"/>
            <a:ext cx="1234440" cy="54864"/>
          </a:xfrm>
          <a:prstGeom prst="rect">
            <a:avLst/>
          </a:prstGeom>
          <a:solidFill>
            <a:srgbClr val="3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73352"/>
            <a:ext cx="10607040" cy="4297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Marketplace browsing includes search, filters, sorting, item cards, and item details.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Students can create, edit, delete, rent, sell, upload item images, and define accepted payment methods.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Admin listing approval/rejection keeps marketplace posts moderated.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Buyer and seller workflows include requests, payment proof, pending actions, completion, receipts, messaging, meetup proposals, notifications, reports, and ratings.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391656"/>
            <a:ext cx="1129284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46520"/>
            <a:ext cx="59436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850">
                <a:solidFill>
                  <a:srgbClr val="5C5E62"/>
                </a:solidFill>
                <a:latin typeface="Aptos"/>
              </a:defRPr>
            </a:pPr>
            <a:r>
              <a:t>UM-Pasa: University Marketplace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>
              <a:defRPr sz="850">
                <a:solidFill>
                  <a:srgbClr val="5C5E62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3" name="Picture 2" descr="UMPAS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201168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20040"/>
            <a:ext cx="982980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2900" b="1">
                <a:solidFill>
                  <a:srgbClr val="242424"/>
                </a:solidFill>
                <a:latin typeface="Aptos Display"/>
              </a:defRPr>
            </a:pPr>
            <a:r>
              <a:t>UI/UX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961120" cy="301752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1300" b="1">
                <a:solidFill>
                  <a:srgbClr val="E2AE49"/>
                </a:solidFill>
                <a:latin typeface="Aptos"/>
              </a:defRPr>
            </a:pPr>
            <a:r>
              <a:t>Student-Friendly and Admin-Friendly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07592"/>
            <a:ext cx="1234440" cy="54864"/>
          </a:xfrm>
          <a:prstGeom prst="rect">
            <a:avLst/>
          </a:prstGeom>
          <a:solidFill>
            <a:srgbClr val="E2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73352"/>
            <a:ext cx="10607040" cy="4297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Responsive Blade and Tailwind layouts support desktop and mobile use.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Reusable UI components include buttons, inputs, cards, dropdowns, flash messages, modals, and navigation.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Marketplace pages use clear filters, status labels, categories, empty states, and feedback messages.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Separate dashboards, transaction pages, receipts, reports, and admin tools match each user role.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391656"/>
            <a:ext cx="1129284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46520"/>
            <a:ext cx="59436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850">
                <a:solidFill>
                  <a:srgbClr val="5C5E62"/>
                </a:solidFill>
                <a:latin typeface="Aptos"/>
              </a:defRPr>
            </a:pPr>
            <a:r>
              <a:t>UM-Pasa: University Marketplace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>
              <a:defRPr sz="850">
                <a:solidFill>
                  <a:srgbClr val="5C5E62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3" name="Picture 2" descr="UMPAS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201168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20040"/>
            <a:ext cx="982980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2900" b="1">
                <a:solidFill>
                  <a:srgbClr val="242424"/>
                </a:solidFill>
                <a:latin typeface="Aptos Display"/>
              </a:defRPr>
            </a:pPr>
            <a:r>
              <a:t>Security and Authorization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961120" cy="301752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1300" b="1">
                <a:solidFill>
                  <a:srgbClr val="B44146"/>
                </a:solidFill>
                <a:latin typeface="Aptos"/>
              </a:defRPr>
            </a:pPr>
            <a:r>
              <a:t>Protected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07592"/>
            <a:ext cx="1234440" cy="54864"/>
          </a:xfrm>
          <a:prstGeom prst="rect">
            <a:avLst/>
          </a:prstGeom>
          <a:solidFill>
            <a:srgbClr val="B44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73352"/>
            <a:ext cx="10607040" cy="4297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Laravel authentication protects private pages and account actions.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AdminMiddleware blocks non-admin access to admin pages.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Policies protect item requests, item updates, transaction viewing, approval, completion, payment proof upload, ratings, and proposal responses.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Form Requests validate inputs, Laravel provides CSRF tokens and hashed passwords, and payment proofs are stored privately behind an authorized route.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391656"/>
            <a:ext cx="1129284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46520"/>
            <a:ext cx="59436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850">
                <a:solidFill>
                  <a:srgbClr val="5C5E62"/>
                </a:solidFill>
                <a:latin typeface="Aptos"/>
              </a:defRPr>
            </a:pPr>
            <a:r>
              <a:t>UM-Pasa: University Marketplace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>
              <a:defRPr sz="850">
                <a:solidFill>
                  <a:srgbClr val="5C5E62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3" name="Picture 2" descr="UMPAS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201168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20040"/>
            <a:ext cx="982980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2900" b="1">
                <a:solidFill>
                  <a:srgbClr val="242424"/>
                </a:solidFill>
                <a:latin typeface="Aptos Display"/>
              </a:defRPr>
            </a:pPr>
            <a:r>
              <a:t>Code Quality and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961120" cy="301752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1300" b="1">
                <a:solidFill>
                  <a:srgbClr val="24807A"/>
                </a:solidFill>
                <a:latin typeface="Aptos"/>
              </a:defRPr>
            </a:pPr>
            <a:r>
              <a:t>Maintainable Laravel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07592"/>
            <a:ext cx="1234440" cy="54864"/>
          </a:xfrm>
          <a:prstGeom prst="rect">
            <a:avLst/>
          </a:prstGeom>
          <a:solidFill>
            <a:srgbClr val="24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73352"/>
            <a:ext cx="10607040" cy="4297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Controllers focus on request handling while services handle transaction, messaging, notification, and rental workflows.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Status values and listing types use model constants instead of scattered strings.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Validation is separated into Form Request classes; authorization is centralized in Policies and Middleware.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Models define relationships, casts, helpers, and guarded mass assignment through fillable fields.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391656"/>
            <a:ext cx="1129284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46520"/>
            <a:ext cx="59436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850">
                <a:solidFill>
                  <a:srgbClr val="5C5E62"/>
                </a:solidFill>
                <a:latin typeface="Aptos"/>
              </a:defRPr>
            </a:pPr>
            <a:r>
              <a:t>UM-Pasa: University Marketplace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>
              <a:defRPr sz="850">
                <a:solidFill>
                  <a:srgbClr val="5C5E62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3" name="Picture 2" descr="UMPAS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201168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20040"/>
            <a:ext cx="982980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2900" b="1">
                <a:solidFill>
                  <a:srgbClr val="242424"/>
                </a:solidFill>
                <a:latin typeface="Aptos Display"/>
              </a:defRPr>
            </a:pPr>
            <a: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961120" cy="301752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1300" b="1">
                <a:solidFill>
                  <a:srgbClr val="376AAD"/>
                </a:solidFill>
                <a:latin typeface="Aptos"/>
              </a:defRPr>
            </a:pPr>
            <a:r>
              <a:t>Normalized Schema and Relationships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07592"/>
            <a:ext cx="1234440" cy="54864"/>
          </a:xfrm>
          <a:prstGeom prst="rect">
            <a:avLst/>
          </a:prstGeom>
          <a:solidFill>
            <a:srgbClr val="376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783080"/>
            <a:ext cx="3246120" cy="123444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783080"/>
            <a:ext cx="73152" cy="1234440"/>
          </a:xfrm>
          <a:prstGeom prst="rect">
            <a:avLst/>
          </a:prstGeom>
          <a:solidFill>
            <a:srgbClr val="376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920240"/>
            <a:ext cx="2926079" cy="10058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376AAD"/>
                </a:solidFill>
                <a:latin typeface="Aptos"/>
              </a:defRPr>
            </a:pPr>
            <a:r>
              <a:t>users</a:t>
            </a:r>
          </a:p>
          <a:p>
            <a:pPr>
              <a:lnSpc>
                <a:spcPct val="100000"/>
              </a:lnSpc>
              <a:defRPr sz="1100">
                <a:solidFill>
                  <a:srgbClr val="242424"/>
                </a:solidFill>
                <a:latin typeface="Aptos"/>
              </a:defRPr>
            </a:pPr>
            <a:r>
              <a:t>student/admin accounts, roles, passwords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9704" y="1783080"/>
            <a:ext cx="3246120" cy="123444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9704" y="1783080"/>
            <a:ext cx="73152" cy="1234440"/>
          </a:xfrm>
          <a:prstGeom prst="rect">
            <a:avLst/>
          </a:prstGeom>
          <a:solidFill>
            <a:srgbClr val="24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4" y="1920240"/>
            <a:ext cx="2926079" cy="10058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24807A"/>
                </a:solidFill>
                <a:latin typeface="Aptos"/>
              </a:defRPr>
            </a:pPr>
            <a:r>
              <a:t>items</a:t>
            </a:r>
          </a:p>
          <a:p>
            <a:pPr>
              <a:lnSpc>
                <a:spcPct val="100000"/>
              </a:lnSpc>
              <a:defRPr sz="1100">
                <a:solidFill>
                  <a:srgbClr val="242424"/>
                </a:solidFill>
                <a:latin typeface="Aptos"/>
              </a:defRPr>
            </a:pPr>
            <a:r>
              <a:t>listings, type, price, category, moderation, rental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3" y="1783080"/>
            <a:ext cx="3246120" cy="123444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93023" y="1783080"/>
            <a:ext cx="73152" cy="1234440"/>
          </a:xfrm>
          <a:prstGeom prst="rect">
            <a:avLst/>
          </a:prstGeom>
          <a:solidFill>
            <a:srgbClr val="3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3" y="1920240"/>
            <a:ext cx="2926079" cy="10058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378A59"/>
                </a:solidFill>
                <a:latin typeface="Aptos"/>
              </a:defRPr>
            </a:pPr>
            <a:r>
              <a:t>transactions</a:t>
            </a:r>
          </a:p>
          <a:p>
            <a:pPr>
              <a:lnSpc>
                <a:spcPct val="100000"/>
              </a:lnSpc>
              <a:defRPr sz="1100">
                <a:solidFill>
                  <a:srgbClr val="242424"/>
                </a:solidFill>
                <a:latin typeface="Aptos"/>
              </a:defRPr>
            </a:pPr>
            <a:r>
              <a:t>buyer, seller, item, payment, status, meetup, rental due 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3474720"/>
            <a:ext cx="3246120" cy="123444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" y="3474720"/>
            <a:ext cx="73152" cy="1234440"/>
          </a:xfrm>
          <a:prstGeom prst="rect">
            <a:avLst/>
          </a:prstGeom>
          <a:solidFill>
            <a:srgbClr val="E2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3611879"/>
            <a:ext cx="2926079" cy="10058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E2AE49"/>
                </a:solidFill>
                <a:latin typeface="Aptos"/>
              </a:defRPr>
            </a:pPr>
            <a:r>
              <a:t>conversations/messages</a:t>
            </a:r>
          </a:p>
          <a:p>
            <a:pPr>
              <a:lnSpc>
                <a:spcPct val="100000"/>
              </a:lnSpc>
              <a:defRPr sz="1100">
                <a:solidFill>
                  <a:srgbClr val="242424"/>
                </a:solidFill>
                <a:latin typeface="Aptos"/>
              </a:defRPr>
            </a:pPr>
            <a:r>
              <a:t>private communication and meetup proposals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9704" y="3474720"/>
            <a:ext cx="3246120" cy="123444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9704" y="3474720"/>
            <a:ext cx="73152" cy="1234440"/>
          </a:xfrm>
          <a:prstGeom prst="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72584" y="3611879"/>
            <a:ext cx="2926079" cy="10058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7E1C26"/>
                </a:solidFill>
                <a:latin typeface="Aptos"/>
              </a:defRPr>
            </a:pPr>
            <a:r>
              <a:t>notifications</a:t>
            </a:r>
          </a:p>
          <a:p>
            <a:pPr>
              <a:lnSpc>
                <a:spcPct val="100000"/>
              </a:lnSpc>
              <a:defRPr sz="1100">
                <a:solidFill>
                  <a:srgbClr val="242424"/>
                </a:solidFill>
                <a:latin typeface="Aptos"/>
              </a:defRPr>
            </a:pPr>
            <a:r>
              <a:t>system updates linked to related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3" y="3474720"/>
            <a:ext cx="3246120" cy="123444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0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93023" y="3474720"/>
            <a:ext cx="73152" cy="1234440"/>
          </a:xfrm>
          <a:prstGeom prst="rect">
            <a:avLst/>
          </a:prstGeom>
          <a:solidFill>
            <a:srgbClr val="B44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3" y="3611879"/>
            <a:ext cx="2926079" cy="10058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B44146"/>
                </a:solidFill>
                <a:latin typeface="Aptos"/>
              </a:defRPr>
            </a:pPr>
            <a:r>
              <a:t>ratings</a:t>
            </a:r>
          </a:p>
          <a:p>
            <a:pPr>
              <a:lnSpc>
                <a:spcPct val="100000"/>
              </a:lnSpc>
              <a:defRPr sz="1100">
                <a:solidFill>
                  <a:srgbClr val="242424"/>
                </a:solidFill>
                <a:latin typeface="Aptos"/>
              </a:defRPr>
            </a:pPr>
            <a:r>
              <a:t>transaction-based feedback with unique review rule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34440" y="5321808"/>
            <a:ext cx="9555480" cy="384048"/>
          </a:xfrm>
          <a:prstGeom prst="roundRect">
            <a:avLst/>
          </a:prstGeom>
          <a:solidFill>
            <a:srgbClr val="376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Foreign keys and indexes support integrity, marketplace filters, transaction lookups, notifications, conversations, and messages.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6391656"/>
            <a:ext cx="1129284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6446520"/>
            <a:ext cx="59436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850">
                <a:solidFill>
                  <a:srgbClr val="5C5E62"/>
                </a:solidFill>
                <a:latin typeface="Aptos"/>
              </a:defRPr>
            </a:pPr>
            <a:r>
              <a:t>UM-Pasa: University Marketplace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>
              <a:defRPr sz="850">
                <a:solidFill>
                  <a:srgbClr val="5C5E62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3" name="Picture 2" descr="UMPAS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201168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20040"/>
            <a:ext cx="982980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2900" b="1">
                <a:solidFill>
                  <a:srgbClr val="242424"/>
                </a:solidFill>
                <a:latin typeface="Aptos Display"/>
              </a:defRPr>
            </a:pPr>
            <a:r>
              <a:t>Database Relationships and Indexes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961120" cy="301752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1300" b="1">
                <a:solidFill>
                  <a:srgbClr val="24807A"/>
                </a:solidFill>
                <a:latin typeface="Aptos"/>
              </a:defRPr>
            </a:pPr>
            <a:r>
              <a:t>Relationship and Performance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07592"/>
            <a:ext cx="1234440" cy="54864"/>
          </a:xfrm>
          <a:prstGeom prst="rect">
            <a:avLst/>
          </a:prstGeom>
          <a:solidFill>
            <a:srgbClr val="24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874519" cy="749808"/>
          </a:xfrm>
          <a:prstGeom prst="roundRect">
            <a:avLst/>
          </a:prstGeom>
          <a:solidFill>
            <a:srgbClr val="24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828800"/>
            <a:ext cx="1874519" cy="749808"/>
          </a:xfrm>
          <a:prstGeom prst="roundRect">
            <a:avLst/>
          </a:prstGeom>
          <a:solidFill>
            <a:srgbClr val="3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Item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828800"/>
            <a:ext cx="1874519" cy="749808"/>
          </a:xfrm>
          <a:prstGeom prst="roundRect">
            <a:avLst/>
          </a:prstGeom>
          <a:solidFill>
            <a:srgbClr val="376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Transaction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828800"/>
            <a:ext cx="1874519" cy="749808"/>
          </a:xfrm>
          <a:prstGeom prst="roundRect">
            <a:avLst/>
          </a:prstGeom>
          <a:solidFill>
            <a:srgbClr val="E2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Rating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3977639"/>
            <a:ext cx="1874519" cy="749808"/>
          </a:xfrm>
          <a:prstGeom prst="round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Conversation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977639"/>
            <a:ext cx="1874519" cy="749808"/>
          </a:xfrm>
          <a:prstGeom prst="roundRect">
            <a:avLst/>
          </a:prstGeom>
          <a:solidFill>
            <a:srgbClr val="B44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Message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3977639"/>
            <a:ext cx="1874519" cy="749808"/>
          </a:xfrm>
          <a:prstGeom prst="roundRect">
            <a:avLst/>
          </a:prstGeom>
          <a:solidFill>
            <a:srgbClr val="24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Notification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97479" y="2203704"/>
            <a:ext cx="548641" cy="0"/>
          </a:xfrm>
          <a:prstGeom prst="line">
            <a:avLst/>
          </a:prstGeom>
          <a:ln w="17780">
            <a:solidFill>
              <a:srgbClr val="A5AA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120640" y="2203704"/>
            <a:ext cx="548640" cy="0"/>
          </a:xfrm>
          <a:prstGeom prst="line">
            <a:avLst/>
          </a:prstGeom>
          <a:ln w="17780">
            <a:solidFill>
              <a:srgbClr val="A5AA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543800" y="2203704"/>
            <a:ext cx="822960" cy="0"/>
          </a:xfrm>
          <a:prstGeom prst="line">
            <a:avLst/>
          </a:prstGeom>
          <a:ln w="17780">
            <a:solidFill>
              <a:srgbClr val="A5AA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697479" y="2203704"/>
            <a:ext cx="548641" cy="2148840"/>
          </a:xfrm>
          <a:prstGeom prst="line">
            <a:avLst/>
          </a:prstGeom>
          <a:ln w="17780">
            <a:solidFill>
              <a:srgbClr val="A5AA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120640" y="4352544"/>
            <a:ext cx="548640" cy="0"/>
          </a:xfrm>
          <a:prstGeom prst="line">
            <a:avLst/>
          </a:prstGeom>
          <a:ln w="17780">
            <a:solidFill>
              <a:srgbClr val="A5AA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543800" y="4352544"/>
            <a:ext cx="822960" cy="0"/>
          </a:xfrm>
          <a:prstGeom prst="line">
            <a:avLst/>
          </a:prstGeom>
          <a:ln w="17780">
            <a:solidFill>
              <a:srgbClr val="A5AA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8680" y="5074920"/>
            <a:ext cx="10058400" cy="9144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200">
                <a:solidFill>
                  <a:srgbClr val="242424"/>
                </a:solidFill>
                <a:latin typeface="Aptos"/>
              </a:defRPr>
            </a:pPr>
            <a:r>
              <a:t>Items belong to users and have many transactions.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200">
                <a:solidFill>
                  <a:srgbClr val="242424"/>
                </a:solidFill>
                <a:latin typeface="Aptos"/>
              </a:defRPr>
            </a:pPr>
            <a:r>
              <a:t>Transactions connect buyer, seller, and item records.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200">
                <a:solidFill>
                  <a:srgbClr val="242424"/>
                </a:solidFill>
                <a:latin typeface="Aptos"/>
              </a:defRPr>
            </a:pPr>
            <a:r>
              <a:t>Ratings belong to transactions and prevent duplicate reviewer entries.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200">
                <a:solidFill>
                  <a:srgbClr val="242424"/>
                </a:solidFill>
                <a:latin typeface="Aptos"/>
              </a:defRPr>
            </a:pPr>
            <a:r>
              <a:t>Indexes improve common marketplace, transaction, notification, conversation, and message queries.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391656"/>
            <a:ext cx="1129284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6446520"/>
            <a:ext cx="59436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850">
                <a:solidFill>
                  <a:srgbClr val="5C5E62"/>
                </a:solidFill>
                <a:latin typeface="Aptos"/>
              </a:defRPr>
            </a:pPr>
            <a:r>
              <a:t>UM-Pasa: University Marketplace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>
              <a:defRPr sz="850">
                <a:solidFill>
                  <a:srgbClr val="5C5E62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3" name="Picture 2" descr="UMPAS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201168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20040"/>
            <a:ext cx="982980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2900" b="1">
                <a:solidFill>
                  <a:srgbClr val="242424"/>
                </a:solidFill>
                <a:latin typeface="Aptos Display"/>
              </a:defRPr>
            </a:pPr>
            <a:r>
              <a:t>Testing and Demo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961120" cy="301752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1300" b="1">
                <a:solidFill>
                  <a:srgbClr val="376AAD"/>
                </a:solidFill>
                <a:latin typeface="Aptos"/>
              </a:defRPr>
            </a:pPr>
            <a:r>
              <a:t>Defense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07592"/>
            <a:ext cx="1234440" cy="54864"/>
          </a:xfrm>
          <a:prstGeom prst="rect">
            <a:avLst/>
          </a:prstGeom>
          <a:solidFill>
            <a:srgbClr val="376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73352"/>
            <a:ext cx="10607040" cy="4297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Feature tests cover authentication, profile management, admin access, and marketplace workflows.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Seeders provide demo accounts for admin, student, seller, buyer, renter, and second seller scenarios.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Seeded listings and transactions make the walkthrough repeatable.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42424"/>
                </a:solidFill>
                <a:latin typeface="Aptos"/>
              </a:defRPr>
            </a:pPr>
            <a:r>
              <a:t>Railway configuration and environment-based setup support deployment readiness.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5440680"/>
            <a:ext cx="9418320" cy="384048"/>
          </a:xfrm>
          <a:prstGeom prst="roundRect">
            <a:avLst/>
          </a:prstGeom>
          <a:solidFill>
            <a:srgbClr val="376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Demo accounts: admin, student, seller, buyer, renter, and second seller. Password: password.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391656"/>
            <a:ext cx="1129284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6446520"/>
            <a:ext cx="59436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850">
                <a:solidFill>
                  <a:srgbClr val="5C5E62"/>
                </a:solidFill>
                <a:latin typeface="Aptos"/>
              </a:defRPr>
            </a:pPr>
            <a:r>
              <a:t>UM-Pasa: University Marketplace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>
              <a:defRPr sz="850">
                <a:solidFill>
                  <a:srgbClr val="5C5E62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3" name="Picture 2" descr="UMPAS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201168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20040"/>
            <a:ext cx="982980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2900" b="1">
                <a:solidFill>
                  <a:srgbClr val="242424"/>
                </a:solidFill>
                <a:latin typeface="Aptos Display"/>
              </a:defRPr>
            </a:pPr>
            <a:r>
              <a:t>Rubric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961120" cy="301752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1300" b="1">
                <a:solidFill>
                  <a:srgbClr val="7E1C26"/>
                </a:solidFill>
                <a:latin typeface="Aptos"/>
              </a:defRPr>
            </a:pPr>
            <a:r>
              <a:t>How UM-Pasa Targets the Excellent Column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07592"/>
            <a:ext cx="1234440" cy="54864"/>
          </a:xfrm>
          <a:prstGeom prst="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19072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8001000"/>
              </a:tblGrid>
              <a:tr h="70104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Rubric Criterion</a:t>
                      </a:r>
                    </a:p>
                  </a:txBody>
                  <a:tcPr>
                    <a:solidFill>
                      <a:srgbClr val="7E1C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 in UM-Pasa</a:t>
                      </a:r>
                    </a:p>
                  </a:txBody>
                  <a:tcPr>
                    <a:solidFill>
                      <a:srgbClr val="7E1C2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Laravel Framework Utilization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MVC, routing, Eloquent, Blade, Middleware, Policies, Form Requests, Service Provider, Artisan command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Functionality &amp;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Listing, request, payment proof, messaging, receipts, ratings, reports, and admin moderation workflows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UI/UX Design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Responsive Tailwind UI, reusable components, status labels, empty states, dashboards, and print pages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Database Design &amp;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Normalized schema, foreign keys, indexes, roles, validation, CSRF, hashed passwords, private proof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Code Quality &amp; Best Practices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t>Service classes, constants, policies, requests, casts, Blade components, tests, seeders, Laravel conventions</a:t>
                      </a:r>
                    </a:p>
                  </a:txBody>
                  <a:tcPr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11480" y="6391656"/>
            <a:ext cx="1129284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46520"/>
            <a:ext cx="59436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850">
                <a:solidFill>
                  <a:srgbClr val="5C5E62"/>
                </a:solidFill>
                <a:latin typeface="Aptos"/>
              </a:defRPr>
            </a:pPr>
            <a:r>
              <a:t>UM-Pasa: University Marketplace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>
              <a:defRPr sz="850">
                <a:solidFill>
                  <a:srgbClr val="5C5E62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3" name="Picture 2" descr="UMPAS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201168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20040"/>
            <a:ext cx="982980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2900" b="1">
                <a:solidFill>
                  <a:srgbClr val="242424"/>
                </a:solidFill>
                <a:latin typeface="Aptos Display"/>
              </a:defRPr>
            </a:pPr>
            <a:r>
              <a:t>Limitations and Future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41832"/>
            <a:ext cx="8961120" cy="301752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1300" b="1">
                <a:solidFill>
                  <a:srgbClr val="7E1C26"/>
                </a:solidFill>
                <a:latin typeface="Aptos"/>
              </a:defRPr>
            </a:pPr>
            <a:r>
              <a:t>Next Development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07592"/>
            <a:ext cx="1234440" cy="54864"/>
          </a:xfrm>
          <a:prstGeom prst="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73352"/>
            <a:ext cx="10607040" cy="4297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242424"/>
                </a:solidFill>
                <a:latin typeface="Aptos"/>
              </a:defRPr>
            </a:pPr>
            <a:r>
              <a:t>Add real-time chat using broadcasting or WebSockets.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242424"/>
                </a:solidFill>
                <a:latin typeface="Aptos"/>
              </a:defRPr>
            </a:pPr>
            <a:r>
              <a:t>Add stronger student verification and richer admin audit logs.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242424"/>
                </a:solidFill>
                <a:latin typeface="Aptos"/>
              </a:defRPr>
            </a:pPr>
            <a:r>
              <a:t>Integrate a real payment gateway and production cloud storage.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1900">
                <a:solidFill>
                  <a:srgbClr val="242424"/>
                </a:solidFill>
                <a:latin typeface="Aptos"/>
              </a:defRPr>
            </a:pPr>
            <a:r>
              <a:t>Add CI/CD, more analytics, and exportable admin reports.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391656"/>
            <a:ext cx="1129284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46520"/>
            <a:ext cx="59436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850">
                <a:solidFill>
                  <a:srgbClr val="5C5E62"/>
                </a:solidFill>
                <a:latin typeface="Aptos"/>
              </a:defRPr>
            </a:pPr>
            <a:r>
              <a:t>UM-Pasa: University Marketplace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>
              <a:defRPr sz="850">
                <a:solidFill>
                  <a:srgbClr val="5C5E62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E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3" name="Picture 2" descr="UMPAS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02920"/>
            <a:ext cx="914400" cy="914400"/>
          </a:xfrm>
          <a:prstGeom prst="rect">
            <a:avLst/>
          </a:prstGeom>
        </p:spPr>
      </p:pic>
      <p:pic>
        <p:nvPicPr>
          <p:cNvPr id="4" name="Picture 3" descr="UMPAS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201168"/>
            <a:ext cx="713232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320040"/>
            <a:ext cx="982980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2900" b="1">
                <a:solidFill>
                  <a:srgbClr val="242424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8961120" cy="301752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1300" b="1">
                <a:solidFill>
                  <a:srgbClr val="378A59"/>
                </a:solidFill>
                <a:latin typeface="Aptos"/>
              </a:defRPr>
            </a:pPr>
            <a:r>
              <a:t>Why UM-Pasa Meets the Rubric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07592"/>
            <a:ext cx="1234440" cy="54864"/>
          </a:xfrm>
          <a:prstGeom prst="rect">
            <a:avLst/>
          </a:prstGeom>
          <a:solidFill>
            <a:srgbClr val="3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828800"/>
            <a:ext cx="10607040" cy="2560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42424"/>
                </a:solidFill>
                <a:latin typeface="Aptos"/>
              </a:defRPr>
            </a:pPr>
            <a:r>
              <a:t>UM-Pasa demonstrates a complete Laravel MVC marketplace system.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42424"/>
                </a:solidFill>
                <a:latin typeface="Aptos"/>
              </a:defRPr>
            </a:pPr>
            <a:r>
              <a:t>It uses authentication, authorization, validation, Eloquent relationships, and reusable Blade UI.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42424"/>
                </a:solidFill>
                <a:latin typeface="Aptos"/>
              </a:defRPr>
            </a:pPr>
            <a:r>
              <a:t>It supports realistic student marketplace workflows from listing to transaction completion.</a:t>
            </a:r>
          </a:p>
          <a:p>
            <a:pPr marL="342900" indent="-171450">
              <a:buChar char="•"/>
              <a:lnSpc>
                <a:spcPct val="105000"/>
              </a:lnSpc>
              <a:spcAft>
                <a:spcPts val="1000"/>
              </a:spcAft>
              <a:defRPr sz="2000">
                <a:solidFill>
                  <a:srgbClr val="242424"/>
                </a:solidFill>
                <a:latin typeface="Aptos"/>
              </a:defRPr>
            </a:pPr>
            <a:r>
              <a:t>Its architecture, features, security, database design, and code quality directly address excellent-level rubric expectations.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892040"/>
            <a:ext cx="10515600" cy="7315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>
              <a:defRPr sz="3200" b="1">
                <a:solidFill>
                  <a:srgbClr val="7E1C26"/>
                </a:solidFill>
                <a:latin typeface="Aptos Display"/>
              </a:defRPr>
            </a:pPr>
            <a:r>
              <a:t>Thank you.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391656"/>
            <a:ext cx="1129284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6446520"/>
            <a:ext cx="59436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>
              <a:defRPr sz="850">
                <a:solidFill>
                  <a:srgbClr val="5C5E62"/>
                </a:solidFill>
                <a:latin typeface="Aptos"/>
              </a:defRPr>
            </a:pPr>
            <a:r>
              <a:t>UM-Pasa: University Marketplace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46520"/>
            <a:ext cx="7315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>
              <a:defRPr sz="850">
                <a:solidFill>
                  <a:srgbClr val="5C5E62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